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761"/>
                </a:solidFill>
                <a:latin typeface="Arial"/>
              </a:rPr>
              <a:t>Revenue by Category (Rp)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(Rp)</c:v>
                </c:pt>
              </c:strCache>
            </c:strRef>
          </c:tx>
          <c:spPr>
            <a:solidFill>
              <a:srgbClr val="4A90D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90D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90D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90D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90D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A90D9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4A90D9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4A90D9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4A90D9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Computers &amp; Elec.</c:v>
                  </c:pt>
                  <c:pt idx="1">
                    <c:v>Electric Household</c:v>
                  </c:pt>
                  <c:pt idx="2">
                    <c:v>Butchers</c:v>
                  </c:pt>
                  <c:pt idx="3">
                    <c:v>Food</c:v>
                  </c:pt>
                  <c:pt idx="4">
                    <c:v>Beverages</c:v>
                  </c:pt>
                  <c:pt idx="5">
                    <c:v>Furniture</c:v>
                  </c:pt>
                  <c:pt idx="6">
                    <c:v>Milk Products</c:v>
                  </c:pt>
                  <c:pt idx="7">
                    <c:v>Patisserie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1317716</c:v>
                </c:pt>
                <c:pt idx="1">
                  <c:v>1315838</c:v>
                </c:pt>
                <c:pt idx="2">
                  <c:v>1260382</c:v>
                </c:pt>
                <c:pt idx="3">
                  <c:v>1252312</c:v>
                </c:pt>
                <c:pt idx="4">
                  <c:v>1242407</c:v>
                </c:pt>
                <c:pt idx="5">
                  <c:v>1205065</c:v>
                </c:pt>
                <c:pt idx="6">
                  <c:v>1153072</c:v>
                </c:pt>
                <c:pt idx="7">
                  <c:v>1146373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761"/>
                </a:solidFill>
                <a:latin typeface="Arial"/>
              </a:rPr>
              <a:t>Revenue by Location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by Location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A90D9"/>
              </a:solidFill>
              <a:effectLst/>
            </c:spPr>
          </c:dPt>
          <c:dPt>
            <c:idx val="1"/>
            <c:bubble3D val="0"/>
            <c:spPr>
              <a:solidFill>
                <a:srgbClr val="F5A623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Online</c:v>
                </c:pt>
                <c:pt idx="1">
                  <c:v>In-store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5028262</c:v>
                </c:pt>
                <c:pt idx="1">
                  <c:v>4864903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761"/>
                </a:solidFill>
                <a:latin typeface="Arial"/>
              </a:rPr>
              <a:t>Top 10 Item by Revenue (Rp)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(Rp)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90D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90D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90D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A90D9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4A90D9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4A90D9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4A90D9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4A90D9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4A90D9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Item_2_BEV</c:v>
                  </c:pt>
                  <c:pt idx="1">
                    <c:v>Item_25_FUR</c:v>
                  </c:pt>
                  <c:pt idx="2">
                    <c:v>Item_19_MILK</c:v>
                  </c:pt>
                  <c:pt idx="3">
                    <c:v>Item_25_EHE</c:v>
                  </c:pt>
                  <c:pt idx="4">
                    <c:v>Item_19_CEA</c:v>
                  </c:pt>
                  <c:pt idx="5">
                    <c:v>Item_20_BUT</c:v>
                  </c:pt>
                  <c:pt idx="6">
                    <c:v>Item_22_BUT</c:v>
                  </c:pt>
                  <c:pt idx="7">
                    <c:v>Item_25_BUT</c:v>
                  </c:pt>
                  <c:pt idx="8">
                    <c:v>Item_17_PAT</c:v>
                  </c:pt>
                  <c:pt idx="9">
                    <c:v>Item_15_EHE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904918</c:v>
                </c:pt>
                <c:pt idx="1">
                  <c:v>148010</c:v>
                </c:pt>
                <c:pt idx="2">
                  <c:v>134240</c:v>
                </c:pt>
                <c:pt idx="3">
                  <c:v>123533</c:v>
                </c:pt>
                <c:pt idx="4">
                  <c:v>120512</c:v>
                </c:pt>
                <c:pt idx="5">
                  <c:v>111086</c:v>
                </c:pt>
                <c:pt idx="6">
                  <c:v>108843</c:v>
                </c:pt>
                <c:pt idx="7">
                  <c:v>105862</c:v>
                </c:pt>
                <c:pt idx="8">
                  <c:v>105386</c:v>
                </c:pt>
                <c:pt idx="9">
                  <c:v>101218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761"/>
                </a:solidFill>
                <a:latin typeface="Arial"/>
              </a:rPr>
              <a:t>Revenue Trend 2024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 2024</c:v>
                </c:pt>
              </c:strCache>
            </c:strRef>
          </c:tx>
          <c:spPr>
            <a:solidFill>
              <a:srgbClr val="4A90D9"/>
            </a:solidFill>
            <a:ln w="31750" cap="flat">
              <a:solidFill>
                <a:srgbClr val="4A90D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A90D9"/>
              </a:solidFill>
              <a:ln w="9525" cap="flat">
                <a:solidFill>
                  <a:srgbClr val="4A90D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308388</c:v>
                </c:pt>
                <c:pt idx="1">
                  <c:v>234485</c:v>
                </c:pt>
                <c:pt idx="2">
                  <c:v>256737</c:v>
                </c:pt>
                <c:pt idx="3">
                  <c:v>276492</c:v>
                </c:pt>
                <c:pt idx="4">
                  <c:v>293930</c:v>
                </c:pt>
                <c:pt idx="5">
                  <c:v>277278</c:v>
                </c:pt>
                <c:pt idx="6">
                  <c:v>271140</c:v>
                </c:pt>
                <c:pt idx="7">
                  <c:v>286571</c:v>
                </c:pt>
                <c:pt idx="8">
                  <c:v>264907</c:v>
                </c:pt>
                <c:pt idx="9">
                  <c:v>268728</c:v>
                </c:pt>
                <c:pt idx="10">
                  <c:v>293254</c:v>
                </c:pt>
                <c:pt idx="11">
                  <c:v>330972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761"/>
                </a:solidFill>
                <a:latin typeface="Arial"/>
              </a:rPr>
              <a:t>Avg Revenue: Diskon vs Tanpa Diskon (Rp)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Revenue (Rp)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Tanpa Diskon</c:v>
                  </c:pt>
                  <c:pt idx="1">
                    <c:v>Dengan Diskon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848</c:v>
                </c:pt>
                <c:pt idx="1">
                  <c:v>842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761"/>
                </a:solidFill>
                <a:latin typeface="Arial"/>
              </a:rPr>
              <a:t>Proporsi Transaksi berdasarkan Diskon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Jumlah Transaksi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5A623"/>
              </a:solidFill>
              <a:effectLst/>
            </c:spPr>
          </c:dPt>
          <c:dPt>
            <c:idx val="1"/>
            <c:bubble3D val="0"/>
            <c:spPr>
              <a:solidFill>
                <a:srgbClr val="0891B2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Dengan Diskon (63,1%)</c:v>
                </c:pt>
                <c:pt idx="1">
                  <c:v>Tanpa Diskon (31,3%)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7832</c:v>
                </c:pt>
                <c:pt idx="1">
                  <c:v>3893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2952A3">
              <a:alpha val="40000"/>
            </a:srgbClr>
          </a:solidFill>
          <a:ln w="12700">
            <a:solidFill>
              <a:srgbClr val="2952A3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0"/>
            <a:ext cx="1645920" cy="5143500"/>
          </a:xfrm>
          <a:prstGeom prst="rect">
            <a:avLst/>
          </a:prstGeom>
          <a:solidFill>
            <a:srgbClr val="4A90D9">
              <a:alpha val="25000"/>
            </a:srgbClr>
          </a:solidFill>
          <a:ln w="12700">
            <a:solidFill>
              <a:srgbClr val="4A90D9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365760"/>
            <a:ext cx="822960" cy="8229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384048"/>
            <a:ext cx="78638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63040" y="411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5A623"/>
                </a:solidFill>
              </a:rPr>
              <a:t>RETAIL STORE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Analisis Bisnis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Penjualan &amp; Insight Strategis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2788920"/>
            <a:ext cx="36576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9260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</a:rPr>
              <a:t>Tujuan: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Menganalisis performa penjualan untuk mendukung pengambilan keputusan bisnis yang lebih efektif.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1828800" cy="960120"/>
          </a:xfrm>
          <a:prstGeom prst="rect">
            <a:avLst/>
          </a:prstGeom>
          <a:solidFill>
            <a:srgbClr val="2952A3">
              <a:alpha val="60000"/>
            </a:srgbClr>
          </a:solidFill>
          <a:ln w="12700">
            <a:solidFill>
              <a:srgbClr val="4A90D9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3886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</a:rPr>
              <a:t>12.418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43159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Transaksi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60320" y="3840480"/>
            <a:ext cx="1828800" cy="960120"/>
          </a:xfrm>
          <a:prstGeom prst="rect">
            <a:avLst/>
          </a:prstGeom>
          <a:solidFill>
            <a:srgbClr val="2952A3">
              <a:alpha val="60000"/>
            </a:srgbClr>
          </a:solidFill>
          <a:ln w="12700">
            <a:solidFill>
              <a:srgbClr val="4A90D9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560320" y="3886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</a:rPr>
              <a:t>25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560320" y="43159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Pelanggan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3840480"/>
            <a:ext cx="1828800" cy="960120"/>
          </a:xfrm>
          <a:prstGeom prst="rect">
            <a:avLst/>
          </a:prstGeom>
          <a:solidFill>
            <a:srgbClr val="2952A3">
              <a:alpha val="60000"/>
            </a:srgbClr>
          </a:solidFill>
          <a:ln w="12700">
            <a:solidFill>
              <a:srgbClr val="4A90D9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63440" y="3886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</a:rPr>
              <a:t>Rp 9,9 M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663440" y="43159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Total Revenue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66560" y="3840480"/>
            <a:ext cx="1828800" cy="960120"/>
          </a:xfrm>
          <a:prstGeom prst="rect">
            <a:avLst/>
          </a:prstGeom>
          <a:solidFill>
            <a:srgbClr val="2952A3">
              <a:alpha val="60000"/>
            </a:srgbClr>
          </a:solidFill>
          <a:ln w="12700">
            <a:solidFill>
              <a:srgbClr val="4A90D9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766560" y="3886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</a:rPr>
              <a:t>66,9%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766560" y="43159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Discount Rate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Junior Data Analyst • 2022–2025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OVERVIEW DATASET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11480" y="914400"/>
            <a:ext cx="1965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9601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📁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Sumber Data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6459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Retail Store Internal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Transaction Database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87752" y="914400"/>
            <a:ext cx="1965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87752" y="9601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587752" y="13716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Jumlah Data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87752" y="16459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12.418 transaksi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2022 – 2025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64024" y="914400"/>
            <a:ext cx="1965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64024" y="9601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64024" y="13716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Pelanggan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64024" y="16459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25 unique customers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Multiple purchase history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40296" y="914400"/>
            <a:ext cx="1965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40296" y="9601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📍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940296" y="13716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Channel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40296" y="16459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Online: 50,5%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In-store: 49,5%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1480" y="2606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Variabel Utama Dataset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971800"/>
          <a:ext cx="8321040" cy="1920240"/>
        </p:xfrm>
        <a:graphic>
          <a:graphicData uri="http://schemas.openxmlformats.org/drawingml/2006/table">
            <a:tbl>
              <a:tblPr/>
              <a:tblGrid>
                <a:gridCol w="2773680"/>
                <a:gridCol w="2773680"/>
                <a:gridCol w="2773680"/>
              </a:tblGrid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Deskripsi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transaction_id / customer_id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Identifier unik transaksi &amp; pelanggan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 / item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Kategori &amp; nama produk (8 kategori, 25+ item)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price_per_unit / quantity / total_spent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harga, jumlah, dan total belanja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payment_method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Cash, Credit Card, Digital Wallet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 penjualan: Online / In-store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transaction_date / Month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Tanggal transaksi &amp; bulan agregasi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discount_applied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Apakah diskon diterapkan (True/False)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pendapatan per transaksi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📈  SALES ANALYSIS — Penjualan per Kategori &amp; Lokasi</a:t>
            </a:r>
            <a:endParaRPr lang="en-US" sz="1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868680"/>
          <a:ext cx="53949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5852160" y="868680"/>
          <a:ext cx="306324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5852160" y="3291840"/>
            <a:ext cx="3063240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943600" y="333756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💡 Key Insight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5943600" y="3657600"/>
            <a:ext cx="2880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• Computers &amp; Electronics </a:t>
            </a:r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memimpin penjualan dengan Rp 1,32 M
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• Channel Online </a:t>
            </a:r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unggul tipis (50,5%) vs In-store
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• Gap antar kategori </a:t>
            </a:r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relatif kecil — persaingan sehat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365760" y="4919472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*Revenue dalam Rupiah (Rp) | Periode: 2022–2025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💰  PROFIT ANALYSIS — Top 10 Item &amp; Revenue Trend</a:t>
            </a:r>
            <a:endParaRPr lang="en-US" sz="1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868680"/>
          <a:ext cx="53949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5852160" y="868680"/>
          <a:ext cx="306324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5852160" y="3383280"/>
            <a:ext cx="3063240" cy="1463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943600" y="342900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💡 Key Insight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5943600" y="3749040"/>
            <a:ext cx="2880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• Item_2_BEV </a:t>
            </a:r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mendominasi dengan Rp 904 juta — 6x lipat item kedua
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• Revenue tertinggi </a:t>
            </a:r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di Desember (Rp 330 juta) — efek akhir tahun
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• Tren 2024 </a:t>
            </a:r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menunjukkan pertumbuhan positif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365760" y="4919472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*Data Top 10 Item dan Monthly Trend 2024 | Revenue dalam Rp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🏷️  DISCOUNT ANALYSIS — Dampak Diskon terhadap Revenue</a:t>
            </a:r>
            <a:endParaRPr lang="en-US" sz="1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868680"/>
          <a:ext cx="41148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480560" y="868680"/>
          <a:ext cx="43891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320040" y="3749040"/>
            <a:ext cx="278892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411480" y="37947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⚠️ Dominasi Diskon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411480" y="406908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66,9% transaksi menggunakan diskon — sangat tinggi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3246120" y="3749040"/>
            <a:ext cx="278892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3337560" y="37947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0D9"/>
                </a:solidFill>
              </a:rPr>
              <a:t>📉 Selisih Tipis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3337560" y="406908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Avg revenue diskon vs tidak hanya beda Rp 6 — diskon tidak efektif mendongkrak nilai transaksi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6172200" y="3749040"/>
            <a:ext cx="278892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6263640" y="37947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💸 Volume Besar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263640" y="406908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Diskon berhasil mendorong volume transaksi (7.832 vs 3.893 transaksi)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365760" y="4919472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*Discount Applied: True/False berdasarkan field discount_applied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15400" y="0"/>
            <a:ext cx="22860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🎯  BUSINESS INSIGHT &amp; REKOMENDASI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685800"/>
            <a:ext cx="841248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</a:rPr>
              <a:t>💡 INSIGHT UTAMA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347472" cy="34747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344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120700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Computers &amp; Electronics Memimpin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138988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Kategori ini menghasilkan revenue tertinggi (Rp 1,32 M), diikuti Electric Household. Produk teknologi mendominasi pasar.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1947672"/>
            <a:ext cx="347472" cy="34747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9476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" y="19202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Item_2_BEV = Star Product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21031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Satu item Beverages menghasilkan Rp 904 juta — 6x lebih besar dari item kedua. Produk ini menjadi tulang punggung bisnis.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2660904"/>
            <a:ext cx="347472" cy="34747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6609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14400" y="263347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Online Channel Unggul Tipis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281635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Online (50,5%) vs In-store (49,5%) — keduanya hampir seimbang, menunjukkan bisnis telah berhasil diversifikasi channel.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374136"/>
            <a:ext cx="347472" cy="34747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37413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04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14400" y="334670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Diskon Tidak Efektif Naikkan Nilai Transaksi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400" y="352958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Meski 66,9% transaksi ber-diskon, rata-rata revenue hanya berbeda Rp 6. Diskon lebih berdampak ke volume, bukan nilai.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087368"/>
            <a:ext cx="347472" cy="34747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0873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05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14400" y="405993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Revenue Tertinggi di Akhir Tahun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14400" y="424281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Desember 2024 menjadi puncak revenue (Rp 330 juta) — pola musiman yang bisa dimanfaatkan untuk kampanye.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212080" y="777240"/>
            <a:ext cx="36576" cy="4114800"/>
          </a:xfrm>
          <a:prstGeom prst="rect">
            <a:avLst/>
          </a:prstGeom>
          <a:solidFill>
            <a:srgbClr val="F5A623">
              <a:alpha val="40000"/>
            </a:srgbClr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49240" y="8229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</a:rPr>
              <a:t>🚀 REKOMENDASI BISNIS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349240" y="1188720"/>
            <a:ext cx="3474720" cy="804672"/>
          </a:xfrm>
          <a:prstGeom prst="rect">
            <a:avLst/>
          </a:prstGeom>
          <a:solidFill>
            <a:srgbClr val="2952A3">
              <a:alpha val="50000"/>
            </a:srgbClr>
          </a:solidFill>
          <a:ln w="12700">
            <a:solidFill>
              <a:srgbClr val="4A90D9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440680" y="122529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🎯  Fokus pada Star Product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40680" y="148132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Pastikan ketersediaan &amp; promosi Item_2_BEV. Analisa faktor keberhasilannya untuk diterapkan pada item lain di kategori Beverages.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349240" y="2084832"/>
            <a:ext cx="3474720" cy="804672"/>
          </a:xfrm>
          <a:prstGeom prst="rect">
            <a:avLst/>
          </a:prstGeom>
          <a:solidFill>
            <a:srgbClr val="2952A3">
              <a:alpha val="50000"/>
            </a:srgbClr>
          </a:solidFill>
          <a:ln w="12700">
            <a:solidFill>
              <a:srgbClr val="4A90D9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40680" y="212140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💡  Revisi Strategi Diskon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40680" y="23774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Batasi diskon hingga transaksi bernilai tinggi saja. Implementasikan program loyalty points sebagai alternatif diskon massal.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349240" y="2980944"/>
            <a:ext cx="3474720" cy="804672"/>
          </a:xfrm>
          <a:prstGeom prst="rect">
            <a:avLst/>
          </a:prstGeom>
          <a:solidFill>
            <a:srgbClr val="2952A3">
              <a:alpha val="50000"/>
            </a:srgbClr>
          </a:solidFill>
          <a:ln w="12700">
            <a:solidFill>
              <a:srgbClr val="4A90D9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440680" y="301752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📱  Perkuat Kanal Online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40680" y="327355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Tingkatkan investasi di digital marketing &amp; UX platform online untuk mempertahankan keunggulan dari In-store.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349240" y="3877056"/>
            <a:ext cx="3474720" cy="804672"/>
          </a:xfrm>
          <a:prstGeom prst="rect">
            <a:avLst/>
          </a:prstGeom>
          <a:solidFill>
            <a:srgbClr val="2952A3">
              <a:alpha val="50000"/>
            </a:srgbClr>
          </a:solidFill>
          <a:ln w="12700">
            <a:solidFill>
              <a:srgbClr val="4A90D9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440680" y="391363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📅  Kampanye Akhir Tahun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40680" y="4169664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Maksimalkan Q4 (November–Desember) dengan kampanye terencana — pola menunjukkan ini adalah periode puncak penjualan.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65760" y="4937760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Retail Store Analysis Report  •  Junior Data Analyst  •  2025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Store - Laporan Analisis Bisnis</dc:title>
  <dc:subject>PptxGenJS Presentation</dc:subject>
  <dc:creator>PptxGenJS</dc:creator>
  <cp:lastModifiedBy>PptxGenJS</cp:lastModifiedBy>
  <cp:revision>1</cp:revision>
  <dcterms:created xsi:type="dcterms:W3CDTF">2026-03-29T21:26:50Z</dcterms:created>
  <dcterms:modified xsi:type="dcterms:W3CDTF">2026-03-29T21:26:50Z</dcterms:modified>
</cp:coreProperties>
</file>